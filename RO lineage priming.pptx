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4" r:id="rId4"/>
    <p:sldId id="260" r:id="rId5"/>
    <p:sldId id="274" r:id="rId6"/>
    <p:sldId id="273" r:id="rId7"/>
    <p:sldId id="268" r:id="rId8"/>
    <p:sldId id="272" r:id="rId9"/>
    <p:sldId id="266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16" d="100"/>
          <a:sy n="116" d="100"/>
        </p:scale>
        <p:origin x="96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malika\Desktop\Zambidis%20Lab\Data\MS_qPRC_RPs_reanalys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/>
              <a:t>Primed</a:t>
            </a:r>
            <a:r>
              <a:rPr lang="en-US" sz="2800" b="1" baseline="0" dirty="0"/>
              <a:t> ESCs relative to TIRN ESCs</a:t>
            </a:r>
            <a:endParaRPr lang="en-US" sz="28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'Primed ESCs vs TIRN ESCs (2)'!$P$3</c:f>
              <c:strCache>
                <c:ptCount val="1"/>
                <c:pt idx="0">
                  <c:v>TIRN ESCs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'Primed ESCs vs TIRN ESCs (2)'!$O$4:$O$28</c:f>
              <c:strCache>
                <c:ptCount val="25"/>
                <c:pt idx="0">
                  <c:v>MITF</c:v>
                </c:pt>
                <c:pt idx="1">
                  <c:v>ASCL1</c:v>
                </c:pt>
                <c:pt idx="2">
                  <c:v>MECOM</c:v>
                </c:pt>
                <c:pt idx="3">
                  <c:v>DLL3</c:v>
                </c:pt>
                <c:pt idx="4">
                  <c:v>NANOG</c:v>
                </c:pt>
                <c:pt idx="5">
                  <c:v>GJA1</c:v>
                </c:pt>
                <c:pt idx="6">
                  <c:v>OCT4</c:v>
                </c:pt>
                <c:pt idx="7">
                  <c:v>SOX2</c:v>
                </c:pt>
                <c:pt idx="8">
                  <c:v>RELN</c:v>
                </c:pt>
                <c:pt idx="9">
                  <c:v>NRL</c:v>
                </c:pt>
                <c:pt idx="10">
                  <c:v>HES6</c:v>
                </c:pt>
                <c:pt idx="11">
                  <c:v>VSX2</c:v>
                </c:pt>
                <c:pt idx="12">
                  <c:v>SOX1</c:v>
                </c:pt>
                <c:pt idx="13">
                  <c:v>CRX</c:v>
                </c:pt>
                <c:pt idx="14">
                  <c:v>PCDH7</c:v>
                </c:pt>
                <c:pt idx="15">
                  <c:v>ATOH7</c:v>
                </c:pt>
                <c:pt idx="16">
                  <c:v>OTX2</c:v>
                </c:pt>
                <c:pt idx="17">
                  <c:v>GPC2</c:v>
                </c:pt>
                <c:pt idx="18">
                  <c:v>LHX2</c:v>
                </c:pt>
                <c:pt idx="19">
                  <c:v>OLIG2</c:v>
                </c:pt>
                <c:pt idx="20">
                  <c:v>COL9A1</c:v>
                </c:pt>
                <c:pt idx="21">
                  <c:v>SIX3</c:v>
                </c:pt>
                <c:pt idx="22">
                  <c:v>PAX6</c:v>
                </c:pt>
                <c:pt idx="23">
                  <c:v>RAX</c:v>
                </c:pt>
                <c:pt idx="24">
                  <c:v>SIX6</c:v>
                </c:pt>
              </c:strCache>
            </c:strRef>
          </c:cat>
          <c:val>
            <c:numRef>
              <c:f>'Primed ESCs vs TIRN ESCs (2)'!$P$4:$P$28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1-014A-A52D-6587DADC093E}"/>
            </c:ext>
          </c:extLst>
        </c:ser>
        <c:ser>
          <c:idx val="1"/>
          <c:order val="1"/>
          <c:tx>
            <c:strRef>
              <c:f>'Primed ESCs vs TIRN ESCs (2)'!$Q$3</c:f>
              <c:strCache>
                <c:ptCount val="1"/>
                <c:pt idx="0">
                  <c:v>Primed ESCs</c:v>
                </c:pt>
              </c:strCache>
            </c:strRef>
          </c:tx>
          <c:spPr>
            <a:solidFill>
              <a:srgbClr val="9D70BF"/>
            </a:solidFill>
            <a:ln w="15875">
              <a:solidFill>
                <a:srgbClr val="7030A0"/>
              </a:solidFill>
            </a:ln>
            <a:effectLst/>
          </c:spPr>
          <c:invertIfNegative val="0"/>
          <c:cat>
            <c:strRef>
              <c:f>'Primed ESCs vs TIRN ESCs (2)'!$O$4:$O$28</c:f>
              <c:strCache>
                <c:ptCount val="25"/>
                <c:pt idx="0">
                  <c:v>MITF</c:v>
                </c:pt>
                <c:pt idx="1">
                  <c:v>ASCL1</c:v>
                </c:pt>
                <c:pt idx="2">
                  <c:v>MECOM</c:v>
                </c:pt>
                <c:pt idx="3">
                  <c:v>DLL3</c:v>
                </c:pt>
                <c:pt idx="4">
                  <c:v>NANOG</c:v>
                </c:pt>
                <c:pt idx="5">
                  <c:v>GJA1</c:v>
                </c:pt>
                <c:pt idx="6">
                  <c:v>OCT4</c:v>
                </c:pt>
                <c:pt idx="7">
                  <c:v>SOX2</c:v>
                </c:pt>
                <c:pt idx="8">
                  <c:v>RELN</c:v>
                </c:pt>
                <c:pt idx="9">
                  <c:v>NRL</c:v>
                </c:pt>
                <c:pt idx="10">
                  <c:v>HES6</c:v>
                </c:pt>
                <c:pt idx="11">
                  <c:v>VSX2</c:v>
                </c:pt>
                <c:pt idx="12">
                  <c:v>SOX1</c:v>
                </c:pt>
                <c:pt idx="13">
                  <c:v>CRX</c:v>
                </c:pt>
                <c:pt idx="14">
                  <c:v>PCDH7</c:v>
                </c:pt>
                <c:pt idx="15">
                  <c:v>ATOH7</c:v>
                </c:pt>
                <c:pt idx="16">
                  <c:v>OTX2</c:v>
                </c:pt>
                <c:pt idx="17">
                  <c:v>GPC2</c:v>
                </c:pt>
                <c:pt idx="18">
                  <c:v>LHX2</c:v>
                </c:pt>
                <c:pt idx="19">
                  <c:v>OLIG2</c:v>
                </c:pt>
                <c:pt idx="20">
                  <c:v>COL9A1</c:v>
                </c:pt>
                <c:pt idx="21">
                  <c:v>SIX3</c:v>
                </c:pt>
                <c:pt idx="22">
                  <c:v>PAX6</c:v>
                </c:pt>
                <c:pt idx="23">
                  <c:v>RAX</c:v>
                </c:pt>
                <c:pt idx="24">
                  <c:v>SIX6</c:v>
                </c:pt>
              </c:strCache>
            </c:strRef>
          </c:cat>
          <c:val>
            <c:numRef>
              <c:f>'Primed ESCs vs TIRN ESCs (2)'!$Q$4:$Q$28</c:f>
              <c:numCache>
                <c:formatCode>General</c:formatCode>
                <c:ptCount val="25"/>
                <c:pt idx="0">
                  <c:v>0.33939252989075791</c:v>
                </c:pt>
                <c:pt idx="1">
                  <c:v>0.45963154797944666</c:v>
                </c:pt>
                <c:pt idx="2">
                  <c:v>0.76946576867334893</c:v>
                </c:pt>
                <c:pt idx="3">
                  <c:v>0.93492094026072303</c:v>
                </c:pt>
                <c:pt idx="4">
                  <c:v>0.9438748644727486</c:v>
                </c:pt>
                <c:pt idx="5">
                  <c:v>1.1554789142423911</c:v>
                </c:pt>
                <c:pt idx="6">
                  <c:v>1.205884904089966</c:v>
                </c:pt>
                <c:pt idx="7">
                  <c:v>1.3926136801254885</c:v>
                </c:pt>
                <c:pt idx="8">
                  <c:v>1.4913787127619285</c:v>
                </c:pt>
                <c:pt idx="9">
                  <c:v>1.8112271103075128</c:v>
                </c:pt>
                <c:pt idx="10">
                  <c:v>2.9097451443936952</c:v>
                </c:pt>
                <c:pt idx="11">
                  <c:v>3.6140651039074081</c:v>
                </c:pt>
                <c:pt idx="12">
                  <c:v>4.0567758727108867</c:v>
                </c:pt>
                <c:pt idx="13">
                  <c:v>4.466869758590474</c:v>
                </c:pt>
                <c:pt idx="14">
                  <c:v>5.2415895206864658</c:v>
                </c:pt>
                <c:pt idx="15">
                  <c:v>5.9478770844243165</c:v>
                </c:pt>
                <c:pt idx="16">
                  <c:v>7.759020451198845</c:v>
                </c:pt>
                <c:pt idx="17">
                  <c:v>10.951568046044367</c:v>
                </c:pt>
                <c:pt idx="18">
                  <c:v>20.819658587936225</c:v>
                </c:pt>
                <c:pt idx="19">
                  <c:v>52.967321514877902</c:v>
                </c:pt>
                <c:pt idx="20">
                  <c:v>62.720139722585358</c:v>
                </c:pt>
                <c:pt idx="21">
                  <c:v>91.601889308277563</c:v>
                </c:pt>
                <c:pt idx="22">
                  <c:v>114.11879435009341</c:v>
                </c:pt>
                <c:pt idx="23">
                  <c:v>177.16269309198495</c:v>
                </c:pt>
                <c:pt idx="24">
                  <c:v>3117.8480539433444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A1-014A-A52D-6587DADC09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7"/>
        <c:overlap val="73"/>
        <c:axId val="1784520975"/>
        <c:axId val="1784475119"/>
      </c:barChart>
      <c:catAx>
        <c:axId val="1784520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4475119"/>
        <c:crosses val="autoZero"/>
        <c:auto val="1"/>
        <c:lblAlgn val="ctr"/>
        <c:lblOffset val="100"/>
        <c:noMultiLvlLbl val="0"/>
      </c:catAx>
      <c:valAx>
        <c:axId val="1784475119"/>
        <c:scaling>
          <c:logBase val="10"/>
          <c:orientation val="minMax"/>
          <c:max val="10000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4520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FD268-D43F-B448-9C44-E32ABB774595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8F8F4-0F36-0A4A-973B-8BA736D2A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1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8F8F4-0F36-0A4A-973B-8BA736D2A0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00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C9436-7187-23EF-2DDE-CDBB6623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A7661-F716-2DAC-B795-3057CDA0E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54522-2C89-47F4-8E98-8E1FEF767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EE8EF-4DA7-15F9-745B-4D43E3E02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4AD2D-8E0D-6B49-BD5E-064BF0AE84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6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22EF-1673-D334-877E-9A9C5D74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E0002-8C1C-7921-277D-B51B3668D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BF137-CCB7-89F8-6AB1-D3C37DA2B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8B5CB-33E3-74C5-9AC1-AC6A2730D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4AD2D-8E0D-6B49-BD5E-064BF0AE84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7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7C3C-6F1A-633E-8346-B20858E7E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455F9-4006-10F0-1DE6-249B75964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DDE5-749E-DE77-C79B-459214C3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05231-BAAD-B125-43E3-4FEA6713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EB68F-A434-B34C-784B-D7FE7D23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6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310A-6BA8-BC79-5230-46873559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3DC1A-26F3-F642-098E-EB58F0D8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DE9AD-171D-665C-06AB-F82D218E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37DA8-8326-6D60-7B62-0089871C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70AD2-46F8-3BCF-34C9-6FEC6E94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9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0D03-DD5B-ACD4-E2C1-6E6CFAADF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0339A-C6DA-6337-BF14-9003DD6FB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6ABD4-582D-7AFD-7B9E-A73AED04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39265-1533-7825-667C-07F68901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47EDA-3A01-99E9-93B2-F526B5F9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4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AF943-ED38-9D8B-387B-07F875E77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C3C6-95F7-6940-97EF-1A3037E5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06B65-DAA9-424C-84FA-6798854CD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2A296-245E-B5F0-63AB-E2CE2F8EB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C6358-6566-F8AF-6033-71F9D317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DF1B0-7619-B736-A9F0-819CFBA6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6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E672-A5B5-823E-AA28-7F455A55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9B500-7D3B-599A-B80B-3C9DDD3A6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3F029-D15C-499F-39C3-D6A85CD26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BDD31-3EFD-2E4B-B462-D614644CC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14269-B3F2-6B0F-62C4-9B8512734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825C48-F16C-D20B-136D-DA13E202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81087-20AA-4AB9-1750-A210BAE0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C2808-60F3-AEC9-B296-12FB9259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61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5310-CC9A-F423-74A2-A9CCF1DB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A4F822-0B8F-A81A-94D4-461E8A520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46128-48C9-51E7-7B5B-D7A0758D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63AA3-FC01-67DC-197D-31EC7010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4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76838-B2F5-6709-C191-6A7C4A96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A74DE-A9BE-DD17-F085-DAB25B37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319DE-9C61-8BED-606C-F6063980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4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FAA5-B910-A3D5-8827-5B6DD799F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56BD1-ADB2-581B-2FC7-EDEAEE7AE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1354F-F569-CF12-FB8B-B8B7055A6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81320-4044-6953-86BD-A98ED1F1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5A863-DAE6-1FE6-FA47-4F97F173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98199-85C2-0AAF-7266-7F98A472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31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C2D9-5C05-D0ED-C1C0-BA86D6EC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8635D-085C-0B8D-2A0A-7B4FBDCF8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87D0A-C9D2-CFBB-D90F-DA99D8D01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5586E-1E9C-74C0-2778-9A5B6F62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8E81F-3D5D-AD8D-A6AD-FAB0BAF9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639BF-E57F-DF08-76A1-A81F7C46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1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D238-2EB2-E4DE-82B3-8D824815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2D918-DBE5-AC87-D0AC-18243AB0A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CAF68-F1F4-6FE8-7003-8077054D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25E0D-4AF0-5109-F2FE-D48A61DED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CC1BB-05A8-8B14-5968-E07BDDC09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84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98239-5086-4B5C-4297-B52CC85EF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83C61-79F5-26A6-5AE6-CF28A10C3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09D1F-58F8-0DD4-218F-4663966F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B69F1-FB83-A40E-F23F-514D366A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DD524-6DF2-82C3-8DA4-CDAD5DDC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3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A0F88-0E1A-4FE6-8A7A-05B17CC47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F25FD-52A7-6B5C-408A-8C36A1DE3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5BAE8-6656-7E83-09E5-4005FC13F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A2C3A-42A2-6941-9D7B-5FA475CDAC6C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2367B-7E6D-F976-3E4F-FFD52ED86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91448-35C3-1226-BA3C-9D75E97E2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BC6EF-ECED-8045-BCCC-7CFEA7455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5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B881-6FE9-BDA1-CB59-4F7ACEBF1F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 plots to show lineage priming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48689-B744-D56E-F566-B06DB54A7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William Li</a:t>
            </a:r>
          </a:p>
        </p:txBody>
      </p:sp>
    </p:spTree>
    <p:extLst>
      <p:ext uri="{BB962C8B-B14F-4D97-AF65-F5344CB8AC3E}">
        <p14:creationId xmlns:p14="http://schemas.microsoft.com/office/powerpoint/2010/main" val="1937884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DE6E-7540-AC93-775F-E45B483B1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32D0090-18F4-D3A9-98D3-BD6E4EE35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2591694"/>
              </p:ext>
            </p:extLst>
          </p:nvPr>
        </p:nvGraphicFramePr>
        <p:xfrm>
          <a:off x="0" y="156991"/>
          <a:ext cx="9610913" cy="654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F593A40-687F-A88A-FFAF-F2D7742FAD0B}"/>
              </a:ext>
            </a:extLst>
          </p:cNvPr>
          <p:cNvSpPr txBox="1"/>
          <p:nvPr/>
        </p:nvSpPr>
        <p:spPr>
          <a:xfrm>
            <a:off x="9106524" y="6485564"/>
            <a:ext cx="5493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Dorgau</a:t>
            </a:r>
            <a:r>
              <a:rPr lang="en-US" sz="1100" dirty="0"/>
              <a:t>, </a:t>
            </a:r>
            <a:r>
              <a:rPr lang="en-US" sz="1100" i="1" dirty="0"/>
              <a:t>et al., </a:t>
            </a:r>
            <a:r>
              <a:rPr lang="en-US" sz="1100" dirty="0"/>
              <a:t>(2024). Nat. </a:t>
            </a:r>
            <a:r>
              <a:rPr lang="en-US" sz="1100" dirty="0" err="1"/>
              <a:t>Commun</a:t>
            </a:r>
            <a:r>
              <a:rPr lang="en-US" sz="1100" dirty="0"/>
              <a:t>. </a:t>
            </a:r>
          </a:p>
          <a:p>
            <a:r>
              <a:rPr lang="en-US" sz="11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Liu, </a:t>
            </a:r>
            <a:r>
              <a:rPr lang="en-US" sz="11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et al., </a:t>
            </a:r>
            <a:r>
              <a:rPr lang="en-US" sz="11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(2025). </a:t>
            </a:r>
            <a:r>
              <a:rPr lang="en-US" sz="1100" b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Science Translational Medicine</a:t>
            </a:r>
            <a:endParaRPr lang="en-US" sz="11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81ABD3-9C43-88F8-BF37-5DB15BB537FD}"/>
              </a:ext>
            </a:extLst>
          </p:cNvPr>
          <p:cNvGraphicFramePr>
            <a:graphicFrameLocks noGrp="1"/>
          </p:cNvGraphicFramePr>
          <p:nvPr/>
        </p:nvGraphicFramePr>
        <p:xfrm>
          <a:off x="9610913" y="22079"/>
          <a:ext cx="2423244" cy="6549393"/>
        </p:xfrm>
        <a:graphic>
          <a:graphicData uri="http://schemas.openxmlformats.org/drawingml/2006/table">
            <a:tbl>
              <a:tblPr/>
              <a:tblGrid>
                <a:gridCol w="1389187">
                  <a:extLst>
                    <a:ext uri="{9D8B030D-6E8A-4147-A177-3AD203B41FA5}">
                      <a16:colId xmlns:a16="http://schemas.microsoft.com/office/drawing/2014/main" val="4132100713"/>
                    </a:ext>
                  </a:extLst>
                </a:gridCol>
                <a:gridCol w="1034057">
                  <a:extLst>
                    <a:ext uri="{9D8B030D-6E8A-4147-A177-3AD203B41FA5}">
                      <a16:colId xmlns:a16="http://schemas.microsoft.com/office/drawing/2014/main" val="427861042"/>
                    </a:ext>
                  </a:extLst>
                </a:gridCol>
              </a:tblGrid>
              <a:tr h="4044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3D6"/>
                          </a:highlight>
                          <a:latin typeface="Aptos" panose="020B0004020202020204" pitchFamily="34" charset="0"/>
                        </a:rPr>
                        <a:t>Lineage Identity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3D6"/>
                          </a:highlight>
                          <a:latin typeface="Aptos" panose="020B0004020202020204" pitchFamily="34" charset="0"/>
                        </a:rPr>
                        <a:t>Markers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98308"/>
                  </a:ext>
                </a:extLst>
              </a:tr>
              <a:tr h="190603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Pluripotent 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NANOG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436709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OCT4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29169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SOX2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032182"/>
                  </a:ext>
                </a:extLst>
              </a:tr>
              <a:tr h="263214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Neuro-retinal stemness related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MECOM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601560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RELN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960308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COL9A1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40183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PCDH7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670205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ATOH7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989973"/>
                  </a:ext>
                </a:extLst>
              </a:tr>
              <a:tr h="217832"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Early retinal progenitor cells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PAX6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19343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VSX2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364523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SOX1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012646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RAX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047633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LHX2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240420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SIX3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152951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SIX6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895978"/>
                  </a:ext>
                </a:extLst>
              </a:tr>
              <a:tr h="217832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Late retinal progenitor cells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ASCL1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797050"/>
                  </a:ext>
                </a:extLst>
              </a:tr>
              <a:tr h="2308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HES6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517553"/>
                  </a:ext>
                </a:extLst>
              </a:tr>
              <a:tr h="21783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Neurogenic 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ATOH7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045406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HES6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434304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DLL3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428766"/>
                  </a:ext>
                </a:extLst>
              </a:tr>
              <a:tr h="226909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Photoreceptor precursors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NRL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298719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CRX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960507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OTX2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767662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OLIG2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93463"/>
                  </a:ext>
                </a:extLst>
              </a:tr>
              <a:tr h="217832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Retinal Pigmented Epithelium 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MITF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392293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GJA1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536240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PCDH7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554488"/>
                  </a:ext>
                </a:extLst>
              </a:tr>
              <a:tr h="217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RELN</a:t>
                      </a:r>
                    </a:p>
                  </a:txBody>
                  <a:tcPr marL="4696" marR="4696" marT="46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672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930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D89E-070C-82FC-46BB-6FD898D2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56871-D0FC-B655-8C10-A6FAF2987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064" y="0"/>
            <a:ext cx="5351661" cy="3428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997B75-64B9-81CB-0E00-DD6D519B7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341" y="3515025"/>
            <a:ext cx="5232384" cy="33525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72ECCA-69EF-F260-1516-919BD3734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679" y="3793321"/>
            <a:ext cx="5232384" cy="33525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DDDEBA-2412-680C-BAAB-19F19AB7A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14" y="0"/>
            <a:ext cx="5738186" cy="367665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934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81CCA-0095-57D3-02A2-C95323B0C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7A02A5-FA0C-9C92-8BBE-6050224060BA}"/>
              </a:ext>
            </a:extLst>
          </p:cNvPr>
          <p:cNvSpPr txBox="1"/>
          <p:nvPr/>
        </p:nvSpPr>
        <p:spPr>
          <a:xfrm>
            <a:off x="425303" y="308344"/>
            <a:ext cx="375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Averaged gene expression across all primed lineages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8F57FF-56E3-C8E6-12C2-9345EEEF7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226" y="938974"/>
            <a:ext cx="7772400" cy="498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8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F9D0F-284B-9B9C-1C14-B84DA4E3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161B77-8E5A-3B06-523D-30C89F0A8F6F}"/>
              </a:ext>
            </a:extLst>
          </p:cNvPr>
          <p:cNvSpPr txBox="1"/>
          <p:nvPr/>
        </p:nvSpPr>
        <p:spPr>
          <a:xfrm>
            <a:off x="442544" y="1017767"/>
            <a:ext cx="1904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Stem-progenitor cell types</a:t>
            </a:r>
          </a:p>
          <a:p>
            <a:r>
              <a:rPr lang="en-US" b="1" dirty="0">
                <a:highlight>
                  <a:srgbClr val="FFFF00"/>
                </a:highlight>
              </a:rPr>
              <a:t>Log counts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0210B-A7F5-3F2F-D126-64BAE546C3EE}"/>
              </a:ext>
            </a:extLst>
          </p:cNvPr>
          <p:cNvSpPr txBox="1"/>
          <p:nvPr/>
        </p:nvSpPr>
        <p:spPr>
          <a:xfrm>
            <a:off x="442544" y="4455239"/>
            <a:ext cx="1745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Differentiated cell types</a:t>
            </a:r>
          </a:p>
          <a:p>
            <a:r>
              <a:rPr lang="en-US" b="1" dirty="0">
                <a:highlight>
                  <a:srgbClr val="FFFF00"/>
                </a:highlight>
              </a:rPr>
              <a:t>Log counts</a:t>
            </a:r>
          </a:p>
        </p:txBody>
      </p:sp>
      <p:pic>
        <p:nvPicPr>
          <p:cNvPr id="5" name="Picture 4" descr="A diagram of different colored squares&#10;&#10;AI-generated content may be incorrect.">
            <a:extLst>
              <a:ext uri="{FF2B5EF4-FFF2-40B4-BE49-F238E27FC236}">
                <a16:creationId xmlns:a16="http://schemas.microsoft.com/office/drawing/2014/main" id="{598A97B4-670F-D5AC-AF83-956407943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593" y="3429000"/>
            <a:ext cx="7772400" cy="3179617"/>
          </a:xfrm>
          <a:prstGeom prst="rect">
            <a:avLst/>
          </a:prstGeom>
        </p:spPr>
      </p:pic>
      <p:pic>
        <p:nvPicPr>
          <p:cNvPr id="9" name="Picture 8" descr="A diagram of different colored rectangles&#10;&#10;AI-generated content may be incorrect.">
            <a:extLst>
              <a:ext uri="{FF2B5EF4-FFF2-40B4-BE49-F238E27FC236}">
                <a16:creationId xmlns:a16="http://schemas.microsoft.com/office/drawing/2014/main" id="{568AA502-266B-DB11-C301-2474FA4F3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593" y="0"/>
            <a:ext cx="7772400" cy="317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6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7520-F7A3-B767-644F-221900EF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20E3B6-E889-F729-8828-43A991035691}"/>
              </a:ext>
            </a:extLst>
          </p:cNvPr>
          <p:cNvSpPr txBox="1"/>
          <p:nvPr/>
        </p:nvSpPr>
        <p:spPr>
          <a:xfrm>
            <a:off x="-58226" y="0"/>
            <a:ext cx="19040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Stem-progenitor cell type genes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>
                <a:highlight>
                  <a:srgbClr val="FFFF00"/>
                </a:highlight>
              </a:rPr>
              <a:t> normalized</a:t>
            </a:r>
          </a:p>
          <a:p>
            <a:r>
              <a:rPr lang="en-US" b="1" dirty="0">
                <a:highlight>
                  <a:srgbClr val="FFFF00"/>
                </a:highlight>
              </a:rPr>
              <a:t>Log10 counts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51768-B622-50BA-F4FD-A930A033B11C}"/>
              </a:ext>
            </a:extLst>
          </p:cNvPr>
          <p:cNvSpPr txBox="1"/>
          <p:nvPr/>
        </p:nvSpPr>
        <p:spPr>
          <a:xfrm>
            <a:off x="6505473" y="-31899"/>
            <a:ext cx="17453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Differentiated cell type genes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>
                <a:highlight>
                  <a:srgbClr val="FFFF00"/>
                </a:highlight>
              </a:rPr>
              <a:t>normalized</a:t>
            </a:r>
          </a:p>
          <a:p>
            <a:r>
              <a:rPr lang="en-US" b="1" dirty="0">
                <a:highlight>
                  <a:srgbClr val="FFFF00"/>
                </a:highlight>
              </a:rPr>
              <a:t>Log10 counts</a:t>
            </a:r>
          </a:p>
        </p:txBody>
      </p:sp>
      <p:pic>
        <p:nvPicPr>
          <p:cNvPr id="5" name="Picture 4" descr="A chart of a number of patients&#10;&#10;AI-generated content may be incorrect.">
            <a:extLst>
              <a:ext uri="{FF2B5EF4-FFF2-40B4-BE49-F238E27FC236}">
                <a16:creationId xmlns:a16="http://schemas.microsoft.com/office/drawing/2014/main" id="{36BEFE1E-25AC-19D9-9EE2-E0AA75ABB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169" y="0"/>
            <a:ext cx="3429000" cy="6858000"/>
          </a:xfrm>
          <a:prstGeom prst="rect">
            <a:avLst/>
          </a:prstGeom>
        </p:spPr>
      </p:pic>
      <p:pic>
        <p:nvPicPr>
          <p:cNvPr id="9" name="Picture 8" descr="A chart of a number of cells&#10;&#10;AI-generated content may be incorrect.">
            <a:extLst>
              <a:ext uri="{FF2B5EF4-FFF2-40B4-BE49-F238E27FC236}">
                <a16:creationId xmlns:a16="http://schemas.microsoft.com/office/drawing/2014/main" id="{AC08EF29-D106-4AD2-C01E-ABC307648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332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336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16419F-9729-7334-FAB7-236F96A16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375" y="0"/>
            <a:ext cx="263769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171BB8-635B-51B7-99B2-06BB8B26B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307" y="0"/>
            <a:ext cx="2637693" cy="6858000"/>
          </a:xfrm>
          <a:prstGeom prst="rect">
            <a:avLst/>
          </a:prstGeom>
        </p:spPr>
      </p:pic>
      <p:pic>
        <p:nvPicPr>
          <p:cNvPr id="9" name="Picture 8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CCA3DE18-BBDC-6D6E-715A-4AE406C00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308" y="0"/>
            <a:ext cx="2637692" cy="6858000"/>
          </a:xfrm>
          <a:prstGeom prst="rect">
            <a:avLst/>
          </a:prstGeom>
        </p:spPr>
      </p:pic>
      <p:pic>
        <p:nvPicPr>
          <p:cNvPr id="11" name="Picture 10" descr="A chart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7F6AD911-8EED-6A79-FC0D-71A92B192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9393" y="0"/>
            <a:ext cx="2637692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332A3B-7DB0-F0B6-791C-3F8CA19E8B33}"/>
              </a:ext>
            </a:extLst>
          </p:cNvPr>
          <p:cNvSpPr txBox="1"/>
          <p:nvPr/>
        </p:nvSpPr>
        <p:spPr>
          <a:xfrm>
            <a:off x="-58226" y="0"/>
            <a:ext cx="1904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highlight>
                  <a:srgbClr val="FFFF00"/>
                </a:highlight>
              </a:rPr>
              <a:t>Undifferetiated</a:t>
            </a:r>
            <a:r>
              <a:rPr lang="en-US" b="1" dirty="0">
                <a:highlight>
                  <a:srgbClr val="FFFF00"/>
                </a:highlight>
              </a:rPr>
              <a:t> cells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CF1577-8FE2-4773-F519-67AA7D6C95C4}"/>
              </a:ext>
            </a:extLst>
          </p:cNvPr>
          <p:cNvSpPr txBox="1"/>
          <p:nvPr/>
        </p:nvSpPr>
        <p:spPr>
          <a:xfrm>
            <a:off x="6826375" y="0"/>
            <a:ext cx="546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RO</a:t>
            </a:r>
          </a:p>
        </p:txBody>
      </p:sp>
    </p:spTree>
    <p:extLst>
      <p:ext uri="{BB962C8B-B14F-4D97-AF65-F5344CB8AC3E}">
        <p14:creationId xmlns:p14="http://schemas.microsoft.com/office/powerpoint/2010/main" val="1839860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04D8-A0B1-BB2D-7E7F-90F3A884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98E021-A52D-3931-685C-8493A36DF84C}"/>
              </a:ext>
            </a:extLst>
          </p:cNvPr>
          <p:cNvSpPr txBox="1"/>
          <p:nvPr/>
        </p:nvSpPr>
        <p:spPr>
          <a:xfrm>
            <a:off x="10069033" y="40084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EDD4A7-D334-812A-17C1-A6F1308E39BB}"/>
              </a:ext>
            </a:extLst>
          </p:cNvPr>
          <p:cNvSpPr txBox="1"/>
          <p:nvPr/>
        </p:nvSpPr>
        <p:spPr>
          <a:xfrm>
            <a:off x="0" y="917015"/>
            <a:ext cx="223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Undifferentiated Individual cell lines </a:t>
            </a:r>
          </a:p>
          <a:p>
            <a:r>
              <a:rPr lang="en-US" dirty="0">
                <a:highlight>
                  <a:srgbClr val="FFFF00"/>
                </a:highlight>
              </a:rPr>
              <a:t>z-scores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Stem-progenitor cell types genes</a:t>
            </a:r>
          </a:p>
        </p:txBody>
      </p:sp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D90EEA37-AFF4-DF33-AB4B-15CD87E2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98" y="27724"/>
            <a:ext cx="7772400" cy="3532908"/>
          </a:xfrm>
          <a:prstGeom prst="rect">
            <a:avLst/>
          </a:prstGeo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A8E07B91-385E-8337-62EF-6507EB2F0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998" y="3325092"/>
            <a:ext cx="7772400" cy="35329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29B48C-E835-7478-B0E0-E6DF5BB530F3}"/>
              </a:ext>
            </a:extLst>
          </p:cNvPr>
          <p:cNvSpPr/>
          <p:nvPr/>
        </p:nvSpPr>
        <p:spPr>
          <a:xfrm>
            <a:off x="6180463" y="27724"/>
            <a:ext cx="1443209" cy="3225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12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2BBA-B445-64FF-0F1F-B92409CAD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7DF324-3A04-61E3-FCF3-747B474B6411}"/>
              </a:ext>
            </a:extLst>
          </p:cNvPr>
          <p:cNvSpPr txBox="1"/>
          <p:nvPr/>
        </p:nvSpPr>
        <p:spPr>
          <a:xfrm>
            <a:off x="10069033" y="40084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57AB7-22A4-A2D7-16E3-7DD3469768DF}"/>
              </a:ext>
            </a:extLst>
          </p:cNvPr>
          <p:cNvSpPr txBox="1"/>
          <p:nvPr/>
        </p:nvSpPr>
        <p:spPr>
          <a:xfrm>
            <a:off x="0" y="267020"/>
            <a:ext cx="20520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Undifferentiated Individual cell line </a:t>
            </a:r>
          </a:p>
          <a:p>
            <a:r>
              <a:rPr lang="en-US" dirty="0">
                <a:highlight>
                  <a:srgbClr val="FFFF00"/>
                </a:highlight>
              </a:rPr>
              <a:t>z-scores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Differentiated cell types genes</a:t>
            </a:r>
          </a:p>
        </p:txBody>
      </p:sp>
      <p:pic>
        <p:nvPicPr>
          <p:cNvPr id="5" name="Picture 4" descr="A diagram of different colored squares&#10;&#10;AI-generated content may be incorrect.">
            <a:extLst>
              <a:ext uri="{FF2B5EF4-FFF2-40B4-BE49-F238E27FC236}">
                <a16:creationId xmlns:a16="http://schemas.microsoft.com/office/drawing/2014/main" id="{79785D30-B77C-D8E9-D1A8-81DFABA9C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84" y="3325092"/>
            <a:ext cx="7772400" cy="3532908"/>
          </a:xfrm>
          <a:prstGeom prst="rect">
            <a:avLst/>
          </a:prstGeom>
        </p:spPr>
      </p:pic>
      <p:pic>
        <p:nvPicPr>
          <p:cNvPr id="7" name="Picture 6" descr="A diagram of a number of cells&#10;&#10;AI-generated content may be incorrect.">
            <a:extLst>
              <a:ext uri="{FF2B5EF4-FFF2-40B4-BE49-F238E27FC236}">
                <a16:creationId xmlns:a16="http://schemas.microsoft.com/office/drawing/2014/main" id="{F6771146-ACA4-1C93-431A-389774B5C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-207816"/>
            <a:ext cx="7772400" cy="3532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50E29A-4542-FF9C-5F7E-3F6962C3B289}"/>
              </a:ext>
            </a:extLst>
          </p:cNvPr>
          <p:cNvSpPr/>
          <p:nvPr/>
        </p:nvSpPr>
        <p:spPr>
          <a:xfrm>
            <a:off x="2209800" y="-207816"/>
            <a:ext cx="1073227" cy="3225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20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6EDBF-BBF0-EBDC-4BD7-B189EC51A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5CD9A1-6852-6CA7-5331-ACE624BF3FDF}"/>
              </a:ext>
            </a:extLst>
          </p:cNvPr>
          <p:cNvSpPr txBox="1"/>
          <p:nvPr/>
        </p:nvSpPr>
        <p:spPr>
          <a:xfrm>
            <a:off x="10069033" y="40084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518FC-13CC-ED6E-AC32-33699558F7DB}"/>
              </a:ext>
            </a:extLst>
          </p:cNvPr>
          <p:cNvSpPr txBox="1"/>
          <p:nvPr/>
        </p:nvSpPr>
        <p:spPr>
          <a:xfrm>
            <a:off x="225366" y="237095"/>
            <a:ext cx="20520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Undifferentiated Averaged</a:t>
            </a:r>
          </a:p>
          <a:p>
            <a:r>
              <a:rPr lang="en-US" dirty="0">
                <a:highlight>
                  <a:srgbClr val="FFFF00"/>
                </a:highlight>
              </a:rPr>
              <a:t>z-scores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Stem-progenitor </a:t>
            </a:r>
            <a:r>
              <a:rPr lang="en-US" dirty="0" err="1">
                <a:highlight>
                  <a:srgbClr val="FFFF00"/>
                </a:highlight>
              </a:rPr>
              <a:t>celltypes</a:t>
            </a:r>
            <a:r>
              <a:rPr lang="en-US" dirty="0">
                <a:highlight>
                  <a:srgbClr val="FFFF00"/>
                </a:highlight>
              </a:rPr>
              <a:t> genes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895B66-A626-AD2E-49D9-77E6EE05D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841" y="0"/>
            <a:ext cx="7542923" cy="342860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80B6F8-46CD-93CA-B14C-41783399A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41" y="3428602"/>
            <a:ext cx="7534657" cy="34248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39ABF1-C492-FA0E-EDB6-E50AC52F9C9E}"/>
              </a:ext>
            </a:extLst>
          </p:cNvPr>
          <p:cNvSpPr/>
          <p:nvPr/>
        </p:nvSpPr>
        <p:spPr>
          <a:xfrm>
            <a:off x="6341125" y="0"/>
            <a:ext cx="1414750" cy="3225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63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B7B0-B659-8065-B5F4-C0FF1EFD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8FF07C-56AD-1319-EDA4-24D261E09C6C}"/>
              </a:ext>
            </a:extLst>
          </p:cNvPr>
          <p:cNvSpPr txBox="1"/>
          <p:nvPr/>
        </p:nvSpPr>
        <p:spPr>
          <a:xfrm>
            <a:off x="10069033" y="40084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07BFC-1C2A-2FEA-E3F6-9A6E0AEE2633}"/>
              </a:ext>
            </a:extLst>
          </p:cNvPr>
          <p:cNvSpPr txBox="1"/>
          <p:nvPr/>
        </p:nvSpPr>
        <p:spPr>
          <a:xfrm>
            <a:off x="169682" y="361288"/>
            <a:ext cx="20520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Undifferentiated Averaged</a:t>
            </a:r>
          </a:p>
          <a:p>
            <a:r>
              <a:rPr lang="en-US" dirty="0">
                <a:highlight>
                  <a:srgbClr val="FFFF00"/>
                </a:highlight>
              </a:rPr>
              <a:t>z-scores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differentiated </a:t>
            </a:r>
            <a:r>
              <a:rPr lang="en-US" dirty="0" err="1">
                <a:highlight>
                  <a:srgbClr val="FFFF00"/>
                </a:highlight>
              </a:rPr>
              <a:t>celltype</a:t>
            </a:r>
            <a:r>
              <a:rPr lang="en-US" dirty="0">
                <a:highlight>
                  <a:srgbClr val="FFFF00"/>
                </a:highlight>
              </a:rPr>
              <a:t> genes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73F53E-EE0E-6C46-2403-DBCAADE38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671" y="3424844"/>
            <a:ext cx="7534657" cy="34248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B0DE80-FD67-4CFF-84F1-BA11D23D2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310" y="-3758"/>
            <a:ext cx="7542924" cy="34286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9521B6-C498-76DB-D2D8-3BF9361DADF1}"/>
              </a:ext>
            </a:extLst>
          </p:cNvPr>
          <p:cNvSpPr/>
          <p:nvPr/>
        </p:nvSpPr>
        <p:spPr>
          <a:xfrm>
            <a:off x="3476740" y="-3758"/>
            <a:ext cx="808821" cy="3225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5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154</Words>
  <Application>Microsoft Macintosh PowerPoint</Application>
  <PresentationFormat>Widescreen</PresentationFormat>
  <Paragraphs>76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RO plots to show lineage priming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Li</dc:creator>
  <cp:lastModifiedBy>William Li</cp:lastModifiedBy>
  <cp:revision>10</cp:revision>
  <dcterms:created xsi:type="dcterms:W3CDTF">2026-03-01T20:29:41Z</dcterms:created>
  <dcterms:modified xsi:type="dcterms:W3CDTF">2026-03-01T22:18:51Z</dcterms:modified>
</cp:coreProperties>
</file>